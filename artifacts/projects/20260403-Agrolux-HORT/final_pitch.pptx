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7259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Agrolux 温室补光产品组合方案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7259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FlexBar DS-30 双通道层间灯条  ×  SlideNode SN-40 浮动补光节点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项目编号：20260403-Agrolux-HORT  |  日期：2026-04-04  |  机密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20000"/>
          </a:xfrm>
          <a:prstGeom prst="rect">
            <a:avLst/>
          </a:prstGeom>
          <a:solidFill>
            <a:srgbClr val="22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640312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市场机会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48600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25533"/>
                </a:solidFill>
              </a:rPr>
              <a:t>$3.7B → $10.4B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34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D4D4F"/>
                </a:solidFill>
              </a:rPr>
              <a:t>温室照明市场规模 2023→2028，CAGR 22.4%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37320"/>
            <a:ext cx="110916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• 行为矛盾①：要满足DLI目标（番茄22-30 mol/m²/day）→ 但电费是最大运营成本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31680"/>
            <a:ext cx="110916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• 行为矛盾②：要换LED节能 → 但LED减热加剧冬季供暖成本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26040"/>
            <a:ext cx="110916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• 行为矛盾③：要多品种光谱优化 → 但同区域顶灯无法分区配光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20400"/>
            <a:ext cx="110916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• 行为矛盾④：要提升中下层叶片光照 → 但顶灯穿透力有限，进入冠层热伤风险高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550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D4D4F"/>
                </a:solidFill>
              </a:rPr>
              <a:t>来源：MarketsandMarkets 2024 [H]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20000"/>
          </a:xfrm>
          <a:prstGeom prst="rect">
            <a:avLst/>
          </a:prstGeom>
          <a:solidFill>
            <a:srgbClr val="22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640312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目标用户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48600"/>
            <a:ext cx="56372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25533"/>
                </a:solidFill>
              </a:rPr>
              <a:t>Head Grower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51520"/>
            <a:ext cx="56372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商业温室技术负责人，日均工作10h+，管理1公顷以上种植区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37320"/>
            <a:ext cx="56372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</a:rPr>
              <a:t>痛点：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03080"/>
            <a:ext cx="554583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• 轮作换品种时光谱切换靠经验，无标准化流程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97440"/>
            <a:ext cx="554583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• 层间补光安装复杂，现有产品固定安装无法随苗高调整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91800"/>
            <a:ext cx="554583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• OS控制系统刚上线，团队学习成本高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85916" y="948600"/>
            <a:ext cx="56372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25533"/>
                </a:solidFill>
              </a:rPr>
              <a:t>关键使用场景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85916" y="1497240"/>
            <a:ext cx="55458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• 冬季番茄密植期：顶光DLI不足+冠层内部光照衰减&gt;70%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85916" y="2183040"/>
            <a:ext cx="55458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• 轮作节点：番茄→甜椒，光谱需从高蓝切至高红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5916" y="2868840"/>
            <a:ext cx="55458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• 生长追踪：番茄每周长15-20cm，固定灯效率每周下降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20000"/>
          </a:xfrm>
          <a:prstGeom prst="rect">
            <a:avLst/>
          </a:prstGeom>
          <a:solidFill>
            <a:srgbClr val="22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640312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C-05  FlexBar DS-30  双通道层间灯条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02880"/>
            <a:ext cx="5486400" cy="347472"/>
          </a:xfrm>
          <a:prstGeom prst="rect">
            <a:avLst/>
          </a:prstGeom>
          <a:solidFill>
            <a:srgbClr val="22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92116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解决：层间补光 + 轮作光谱切换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87512"/>
            <a:ext cx="685617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5533"/>
                </a:solidFill>
              </a:rPr>
              <a:t>P0功能：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53272"/>
            <a:ext cx="685617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• 层间补光 ≥200µmol/s/m，30-40cm冠层内精准打光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56192"/>
            <a:ext cx="685617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• 双光谱预设：配方A（生长期高蓝）/ B（结果期高红），一键切换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759112"/>
            <a:ext cx="685617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• Modbus接入LYRA/Agrolux OS，远程切换光谱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307752"/>
            <a:ext cx="6856171" cy="50292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335184"/>
            <a:ext cx="667329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宽30mm  |  40-60W/m  |  ≥3.6µmol/J  |  IP67  |  BOM≤$28/m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947832"/>
            <a:ext cx="685617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25533"/>
                </a:solidFill>
              </a:rPr>
              <a:t>全球无已知产品同时具备层间安装+双通道可调光谱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386744"/>
            <a:ext cx="685617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25533"/>
                </a:solidFill>
              </a:rPr>
              <a:t>vs Hortilux Inter：60mm宽固定单谱 vs 本方案30mm双谱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4811" y="902880"/>
            <a:ext cx="4601260" cy="5029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6251" y="948600"/>
            <a:ext cx="44183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DFM：CONDITIONAL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4811" y="1542960"/>
            <a:ext cx="46012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BOM：$22-28/m（灯条）+ $45/台驱动器（均摊≤$8/m）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4811" y="2274480"/>
            <a:ext cx="46012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</a:rPr>
              <a:t>主要风险：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4811" y="2640240"/>
            <a:ext cx="46012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0000"/>
                </a:solidFill>
              </a:rPr>
              <a:t>⚠ 热阻：双通道8h连续，结温需验证≤105°C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4811" y="3234600"/>
            <a:ext cx="46012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0000"/>
                </a:solidFill>
              </a:rPr>
              <a:t>⚠ EMI：双PWM驱动器互扰，需EMC预测试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20000"/>
          </a:xfrm>
          <a:prstGeom prst="rect">
            <a:avLst/>
          </a:prstGeom>
          <a:solidFill>
            <a:srgbClr val="4D4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640312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C-02  SlideNode SN-40  浮动轨道补光节点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02880"/>
            <a:ext cx="5029200" cy="347472"/>
          </a:xfrm>
          <a:prstGeom prst="rect">
            <a:avLst/>
          </a:prstGeom>
          <a:solidFill>
            <a:srgbClr val="4D4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92116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解决：动态追踪作物生长高度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87512"/>
            <a:ext cx="685617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D4D4F"/>
                </a:solidFill>
              </a:rPr>
              <a:t>P0功能：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53272"/>
            <a:ext cx="685617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• 单手15秒调位：弹簧夹沿灌溉导轨滑动，无需工具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56192"/>
            <a:ext cx="685617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• 40W COB / 400µmol/s，始终维持最优光距30-40cm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759112"/>
            <a:ext cx="685617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• Zigbee自组网（8节点+1网关），Modbus接入Agrolux 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307752"/>
            <a:ext cx="6856171" cy="50292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335184"/>
            <a:ext cx="667329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Ø80mm×20mm  |  40W  |  IP65  |  RH 95%  |  BOM≤$45/节点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947832"/>
            <a:ext cx="685617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D4D4F"/>
                </a:solidFill>
              </a:rPr>
              <a:t>市场唯一可随作物动态移位的补光节点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386744"/>
            <a:ext cx="685617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D4D4F"/>
                </a:solidFill>
              </a:rPr>
              <a:t>vs Hortilux Inter：固定安装，效率损失30-40%（植株0.5m→3m周期内）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4811" y="902880"/>
            <a:ext cx="4601260" cy="5029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6251" y="948600"/>
            <a:ext cx="44183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DFM：CONDITIONAL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4811" y="1542960"/>
            <a:ext cx="46012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BOM：$35-45/节点（含Zigbee模块）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4811" y="2274480"/>
            <a:ext cx="46012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</a:rPr>
              <a:t>主要风险：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4811" y="2640240"/>
            <a:ext cx="46012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0000"/>
                </a:solidFill>
              </a:rPr>
              <a:t>⚠ 无线稳定性：金属温室80-95%RH多径干扰，需实地测试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4811" y="3234600"/>
            <a:ext cx="46012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0000"/>
                </a:solidFill>
              </a:rPr>
              <a:t>⚠ 热阻：20mm圆盘40W COB，FEA验证优先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20000"/>
          </a:xfrm>
          <a:prstGeom prst="rect">
            <a:avLst/>
          </a:prstGeom>
          <a:solidFill>
            <a:srgbClr val="22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640312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CMF规格 + 效果图提示词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48600"/>
            <a:ext cx="55458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33333"/>
                </a:solidFill>
              </a:rPr>
              <a:t>FlexBar DS-30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0580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</a:rPr>
              <a:t>颜色：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405800"/>
            <a:ext cx="42656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RAL 9003 Signal White，ΔE≤1.5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5444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</a:rPr>
              <a:t>材料：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954440"/>
            <a:ext cx="42656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6063-T5铝基板 + ASA驱动器壳体 + M12 IP67接头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0308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</a:rPr>
              <a:t>表面处理：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503080"/>
            <a:ext cx="42656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阳极氧化哑光GU15-25 / 聚氨酯面漆GU20-30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43160"/>
            <a:ext cx="55458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D4D4F"/>
                </a:solidFill>
              </a:rPr>
              <a:t>效果图提示词示例：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90632"/>
            <a:ext cx="5545836" cy="109728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527208"/>
            <a:ext cx="536295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D4D4F"/>
                </a:solidFill>
              </a:rPr>
              <a:t>Angle 1: 30mm wide anodized aluminum LED strip, 1.2m length, dual LED rows (red+blue-white), signal white RAL9003, spring clips, M12 connectors, 45° isometric, studio lighting, dark background, photorealistic 8K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5916" y="948600"/>
            <a:ext cx="55458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33333"/>
                </a:solidFill>
              </a:rPr>
              <a:t>SlideNode SN-40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5916" y="140580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</a:rPr>
              <a:t>颜色：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66076" y="1405800"/>
            <a:ext cx="42656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RAL 7016 Anthracite Gray，ΔE≤2.0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5916" y="195444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</a:rPr>
              <a:t>材料：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66076" y="1954440"/>
            <a:ext cx="42656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ADC12压铸铝 + PC光学镜片 + 316L不锈钢夹具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5916" y="250308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</a:rPr>
              <a:t>表面处理：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66076" y="2503080"/>
            <a:ext cx="42656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TGIC环氧粉末哑光GU10-20，细砂纹防滑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5916" y="3143160"/>
            <a:ext cx="55458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D4D4F"/>
                </a:solidFill>
              </a:rPr>
              <a:t>效果图提示词示例：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85916" y="3490632"/>
            <a:ext cx="5545836" cy="109728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77356" y="3527208"/>
            <a:ext cx="536295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D4D4F"/>
                </a:solidFill>
              </a:rPr>
              <a:t>Angle 1: 80mm diameter × 20mm disc, anthracite gray RAL7016, 55mm PC COB lens, top spring clamp with thumb-press button, matte powder coat, 45° isometric, dark background, photorealistic 8K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20000"/>
          </a:xfrm>
          <a:prstGeom prst="rect">
            <a:avLst/>
          </a:prstGeom>
          <a:solidFill>
            <a:srgbClr val="22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640312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落地性评估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902880"/>
          <a:ext cx="115214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657600"/>
                <a:gridCol w="914400"/>
                <a:gridCol w="493776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产品</a:t>
                      </a:r>
                    </a:p>
                  </a:txBody>
                  <a:tcPr>
                    <a:solidFill>
                      <a:srgbClr val="2255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风险项</a:t>
                      </a:r>
                    </a:p>
                  </a:txBody>
                  <a:tcPr>
                    <a:solidFill>
                      <a:srgbClr val="2255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等级</a:t>
                      </a:r>
                    </a:p>
                  </a:txBody>
                  <a:tcPr>
                    <a:solidFill>
                      <a:srgbClr val="2255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缓解措施</a:t>
                      </a:r>
                    </a:p>
                  </a:txBody>
                  <a:tcPr>
                    <a:solidFill>
                      <a:srgbClr val="22553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FlexBar DS-30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双通道热阻（结温验证）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C80000"/>
                          </a:solidFill>
                        </a:rPr>
                        <a:t>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FEA仿真→降功率备选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FlexBar DS-30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双PWM驱动EMI互扰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C80000"/>
                          </a:solidFill>
                        </a:rPr>
                        <a:t>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EMC预测试$3-5k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FlexBar DS-30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UL 8800认证周期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8C00"/>
                          </a:solidFill>
                        </a:rPr>
                        <a:t>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预算$25-35k，6个月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SlideNode SN-40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无线稳定性（温室实测）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C80000"/>
                          </a:solidFill>
                        </a:rPr>
                        <a:t>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72h实地测试优先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SlideNode SN-40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圆盘热阻（FEA验证）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C80000"/>
                          </a:solidFill>
                        </a:rPr>
                        <a:t>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必须先做FEA再打样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SlideNode SN-40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网关单点故障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8C00"/>
                          </a:solidFill>
                        </a:rPr>
                        <a:t>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离线安全模式（已写入PRD）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65760" y="3646080"/>
            <a:ext cx="5545836" cy="1097280"/>
          </a:xfrm>
          <a:prstGeom prst="rect">
            <a:avLst/>
          </a:prstGeom>
          <a:solidFill>
            <a:srgbClr val="EBF8EB"/>
          </a:solidFill>
          <a:ln w="19050">
            <a:solidFill>
              <a:srgbClr val="2255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691800"/>
            <a:ext cx="536295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FlexBar DS-30
灯条：$22-28/m
驱动器：$45/台（均摊$7-9/m）
合计：约$29-37/m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4476" y="3646080"/>
            <a:ext cx="5545836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4D4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85916" y="3691800"/>
            <a:ext cx="536295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SlideNode SN-40
节点：$35-45/个
量产500件后→$27-35/个
（压铸模$18k开模）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20000"/>
          </a:xfrm>
          <a:prstGeom prst="rect">
            <a:avLst/>
          </a:prstGeom>
          <a:solidFill>
            <a:srgbClr val="22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640312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推销策略 与 下一步行动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0288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25533"/>
                </a:solidFill>
              </a:rPr>
              <a:t>推荐顺序：C-05先行，C-02跟进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515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• C-05门槛低：不依赖LYRA接口授权，Modbus通用协议，可独立落地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087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• C-05价格可接受：$29-37/m，种植者可小批试用，降低Owner决策门槛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659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• C-02需先验证无线可靠性（首要H级风险），建议借用客户温室实测后再推进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231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• 两个产品可作为产品组合pitch：'层间补光完整解决方案，固定+动态两种选择'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3371760"/>
          <a:ext cx="96012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114800"/>
                <a:gridCol w="4114800"/>
              </a:tblGrid>
              <a:tr h="26289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维度</a:t>
                      </a:r>
                    </a:p>
                  </a:txBody>
                  <a:tcPr>
                    <a:solidFill>
                      <a:srgbClr val="2255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C-05评分</a:t>
                      </a:r>
                    </a:p>
                  </a:txBody>
                  <a:tcPr>
                    <a:solidFill>
                      <a:srgbClr val="2255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C-02评分</a:t>
                      </a:r>
                    </a:p>
                  </a:txBody>
                  <a:tcPr>
                    <a:solidFill>
                      <a:srgbClr val="225533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</a:rPr>
                        <a:t>使用场景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</a:rPr>
                        <a:t>★★★★☆ 场景清晰，轮作+层间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</a:rPr>
                        <a:t>★★★★☆ 场景清晰，高茎作物追踪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</a:rPr>
                        <a:t>目标人群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</a:rPr>
                        <a:t>★★★★☆ Head Grower明确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</a:rPr>
                        <a:t>★★★☆☆ 操作动作需用户研究验证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</a:rPr>
                        <a:t>差异化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</a:rPr>
                        <a:t>★★★★★ 全球无已知同类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</a:rPr>
                        <a:t>★★★★★ 市场唯一动态移位节点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</a:rPr>
                        <a:t>制造可行性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</a:rPr>
                        <a:t>★★★☆☆ 热/EMI需验证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</a:rPr>
                        <a:t>★★☆☆☆ 热+无线双H风险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</a:rPr>
                        <a:t>成本结构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</a:rPr>
                        <a:t>★★★★☆ BOM可控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</a:rPr>
                        <a:t>★★★☆☆ 量产前成本偏高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</a:rPr>
                        <a:t>市场规模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</a:rPr>
                        <a:t>★★★★☆ CAGR 22.4%，层间补光明确需求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</a:rPr>
                        <a:t>★★★☆☆ 高茎作物子集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</a:rPr>
                        <a:t>客户买单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</a:rPr>
                        <a:t>★★★☆☆ 取决于Agrolux OEM开放度[L]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</a:rPr>
                        <a:t>★★★☆☆ 同上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7404811" y="994320"/>
            <a:ext cx="4601260" cy="2194560"/>
          </a:xfrm>
          <a:prstGeom prst="rect">
            <a:avLst/>
          </a:prstGeom>
          <a:solidFill>
            <a:srgbClr val="DCF0DC"/>
          </a:solidFill>
          <a:ln w="19050">
            <a:solidFill>
              <a:srgbClr val="2255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6251" y="1040040"/>
            <a:ext cx="44183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5533"/>
                </a:solidFill>
              </a:rPr>
              <a:t>立即行动（按优先级）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6251" y="1451520"/>
            <a:ext cx="44183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1. 联系Agrolux partnerships部门，确认OEM合作开放度（影响所有方向）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6251" y="1881288"/>
            <a:ext cx="44183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2. C-05：安排双通道热阻FEA仿真（1周），同步EMC预测试咨询（SGS/Intertek）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6251" y="2311056"/>
            <a:ext cx="44183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3. C-02：在目标客户温室借测Zigbee 72h可靠性（最低成本验证H级风险）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6251" y="2740824"/>
            <a:ext cx="44183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4. C-02量产规划：确认年需求量是否&gt;500件，决定是否开压铸模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49224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D4D4F"/>
                </a:solidFill>
              </a:rPr>
              <a:t>© 2026 | 项目编号：20260403-Agrolux-HORT | 机密文件，仅供Agrolux内部评审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